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0"/>
            <a:ext cx="256032" cy="2377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1508760"/>
            <a:ext cx="128016" cy="1920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37360"/>
            <a:ext cx="91440" cy="14630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 Industrial de Catamarca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Sistema Web · Tres roles: Visitante · Empresa · Ministerio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3840480"/>
            <a:ext cx="128016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3840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Visitante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3840480"/>
            <a:ext cx="128016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3840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Empresa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3840480"/>
            <a:ext cx="1280160" cy="3657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3840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Ministerio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956048"/>
            <a:ext cx="8229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50 historias de usuario  ·  Versión 1.0  ·  Junio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Resumen del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85800"/>
            <a:ext cx="2651760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85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Visitante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B82F6"/>
                </a:solidFill>
              </a:rPr>
              <a:t>14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historias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US-01 a US-14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16 páginas públicas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Sin login requerido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68580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685800"/>
            <a:ext cx="2651760" cy="685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685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Empresa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13716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2C55E"/>
                </a:solidFill>
              </a:rPr>
              <a:t>13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320040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historias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7889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US-15 a US-27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11 páginas + 7 APIs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Login empresa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68580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685800"/>
            <a:ext cx="2651760" cy="6858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685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Ministerio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5040" y="13716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A855F7"/>
                </a:solidFill>
              </a:rPr>
              <a:t>23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603504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historias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7889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US-28 a US-50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31 págs + 12 APIs + 3 cron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Login ministerio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Total: 50 historias de usuario  ·  58 páginas PHP  ·  19 endpoints API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365760"/>
            <a:ext cx="1051560" cy="10515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4114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 / Ciudadano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54480" y="11430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Usuario público sin autenticación — Solo lectura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627632"/>
            <a:ext cx="8686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Épicas incluidas: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Épica 1: Explorar el Parque Industrial (US-01 a US-04)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Épica 2: Directorio de Empresas (US-05 a US-06)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Épica 3: Mapa Interactivo (US-07 a US-08)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Épica 4: Noticias y Publicaciones (US-09 a US-10)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Épica 5: Contacto y Acceso (US-11 a US-14)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Visitante · Épica 1: Explorar el Parque Industrial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4114800"/>
        </p:xfrm>
        <a:graphic>
          <a:graphicData uri="http://schemas.openxmlformats.org/drawingml/2006/table">
            <a:tbl>
              <a:tblPr/>
              <a:tblGrid>
                <a:gridCol w="685800"/>
                <a:gridCol w="5029200"/>
                <a:gridCol w="1783080"/>
                <a:gridCol w="91440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 / Archivo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Ver página de inicio con 6 empresas destacadas por visitas, últimas 3 noticias aprobadas, gráfico de rubros y mapa satélite.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index.php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Conocer el Parque El Pantanillo: historia, servicios e infraestructura disponibles para empresas.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parque.php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el-parque.php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Ver información institucional: misión, visión y datos de contacto del ministerio (contenido editable).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nosotros.php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Ver estadísticas públicas: total de empresas, empleados, distribución por rubro y huella de carbono.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estadisticas.php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Visitante · Épicas 2, 3 y 4: Empresas, Mapa y Noticias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8595360" cy="24688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4008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Épica 2: Directorio de Empresas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05256"/>
          <a:ext cx="8595360" cy="822960"/>
        </p:xfrm>
        <a:graphic>
          <a:graphicData uri="http://schemas.openxmlformats.org/drawingml/2006/table">
            <a:tbl>
              <a:tblPr/>
              <a:tblGrid>
                <a:gridCol w="685800"/>
                <a:gridCol w="4480560"/>
                <a:gridCol w="169164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 / Archivo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Buscar y filtrar empresas por nombre, descripción, rubro y zona. Resultados paginados (12 por página).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empresas.php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Ver ficha completa de empresa: CUIT, rubro, logo, galería de fotos, redes sociales y productos/servicios.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empresa.php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1792224"/>
            <a:ext cx="8595360" cy="24688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792224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Épica 3: Mapa Interactivo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57400"/>
          <a:ext cx="8595360" cy="822960"/>
        </p:xfrm>
        <a:graphic>
          <a:graphicData uri="http://schemas.openxmlformats.org/drawingml/2006/table">
            <a:tbl>
              <a:tblPr/>
              <a:tblGrid>
                <a:gridCol w="685800"/>
                <a:gridCol w="4480560"/>
                <a:gridCol w="169164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 / Archivo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Ver empresas geolocalizadas en mapa Leaflet con capas satélite, topográfica y de calles. Clusters de marcadores por zona.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mapa.php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Filtrar qué empresas se muestran en el mapa eligiendo rubro desde el panel lateral.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mapa.php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2944368"/>
            <a:ext cx="8595360" cy="24688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" name="Text 7"/>
          <p:cNvSpPr/>
          <p:nvPr/>
        </p:nvSpPr>
        <p:spPr>
          <a:xfrm>
            <a:off x="365760" y="2944368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Épica 4: Noticias y Publicaciones</a:t>
            </a:r>
            <a:endParaRPr lang="en-US" sz="11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09544"/>
          <a:ext cx="8595360" cy="822960"/>
        </p:xfrm>
        <a:graphic>
          <a:graphicData uri="http://schemas.openxmlformats.org/drawingml/2006/table">
            <a:tbl>
              <a:tblPr/>
              <a:tblGrid>
                <a:gridCol w="685800"/>
                <a:gridCol w="4480560"/>
                <a:gridCol w="169164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 / Archivo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Ver noticias aprobadas paginadas (12/pág), filtradas por tipo (empleados, inversiones, otros) y buscables por texto.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noticias.php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Leer publicación completa y marcar "Me Gusta" identificado por IP, sin necesidad de iniciar sesión.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publicacion.php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</a:rPr>
                        <a:t>Baja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Visitante · Épica 5: Contacto y Acceso al Sistema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4114800"/>
        </p:xfrm>
        <a:graphic>
          <a:graphicData uri="http://schemas.openxmlformats.org/drawingml/2006/table">
            <a:tbl>
              <a:tblPr/>
              <a:tblGrid>
                <a:gridCol w="685800"/>
                <a:gridCol w="5029200"/>
                <a:gridCol w="1783080"/>
                <a:gridCol w="91440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 / Archivo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Presentar proyecto para radicarse: nombre, contacto, email, teléfono, resumen y hasta 2 adjuntos (PDF/imágenes, máx 10 MB c/u). Opción de solicitar cita.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presentar-proyecto.php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Iniciar sesión con email y contraseña. Protección CSRF, rate limit 5 intentos fallidos = bloqueo 15 minutos. Redirige a panel según rol.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login.php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Recuperar contraseña olvidada: ingresar email y recibir enlace de restablecimiento con token válido por 1 hora.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recuperar.php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Activar cuenta de empresa nueva: usar enlace enviado por el ministerio para crear contraseña (token válido 48 horas).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activar-cuenta.php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365760"/>
            <a:ext cx="1051560" cy="10515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4114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Empresa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54480" y="11430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Autenticado · Gestiona su propia información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627632"/>
            <a:ext cx="8686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Épicas incluidas: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Épica 1: Panel y Perfil (US-15 a US-17)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Épica 2: Formularios de Declaración Jurada (US-18 a US-21)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Épica 3: Publicaciones y Galería (US-22 a US-23)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Épica 4: Comunicaciones con el Ministerio (US-24 a US-27)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Empresa · Épica 1: Panel y Perfil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4114800"/>
        </p:xfrm>
        <a:graphic>
          <a:graphicData uri="http://schemas.openxmlformats.org/drawingml/2006/table">
            <a:tbl>
              <a:tblPr/>
              <a:tblGrid>
                <a:gridCol w="685800"/>
                <a:gridCol w="5029200"/>
                <a:gridCol w="1783080"/>
                <a:gridCol w="914400"/>
              </a:tblGrid>
              <a:tr h="1028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 / Archivo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Ver dashboard con: estado de cuenta (Pendiente/Activa/Suspendida), % completitud de perfil, últimas 5 notificaciones y timeline de 6 acciones recientes.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empresa/dashboard.php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Completar y editar perfil: nombre, CUIT, rubro, descripción, dirección, teléfono, logo, coordenadas GPS, sitio web y redes sociales (Facebook, Instagram, LinkedIn).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empresa/perfil.php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Cambiar contraseña ingresando la contraseña actual; la nueva contraseña no puede ser igual a la anterior.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empresa/cambiar-contrasena.php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Empresa · Épica 2: Formularios de Declaración Jurada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4114800"/>
        </p:xfrm>
        <a:graphic>
          <a:graphicData uri="http://schemas.openxmlformats.org/drawingml/2006/table">
            <a:tbl>
              <a:tblPr/>
              <a:tblGrid>
                <a:gridCol w="685800"/>
                <a:gridCol w="5029200"/>
                <a:gridCol w="1783080"/>
                <a:gridCol w="91440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 / Archivo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Crear formulario trimestral como borrador: consumos de energía, agua y gas; producción mensual con unidad; capacidad de uso (%); dotación total con desglose masculino/femenino.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empresa/formularios.php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Enviar formulario al ministerio aceptando la Declaración Jurada (checkbox obligatorio). El formulario queda bloqueado para edición luego del envío (estado: Enviado).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empresa/formularios.php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Ver historial completo de formularios organizados por período trimestral con sus estados: Borrador / Enviado / Aprobado / Rechazado.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empresa/formularios.php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Responder formularios dinámicos personalizados creados por el ministerio. Tipos de preguntas: texto, número, selección, checkbox y textarea. Guardar como borrador.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empresa/formulario_dinamico.php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Empresa · Épicas 3 y 4: Publicaciones, Galería y Comunicaciones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8595360" cy="24688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4008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Épica 3: Publicaciones y Galería de Fotos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05256"/>
          <a:ext cx="8595360" cy="822960"/>
        </p:xfrm>
        <a:graphic>
          <a:graphicData uri="http://schemas.openxmlformats.org/drawingml/2006/table">
            <a:tbl>
              <a:tblPr/>
              <a:tblGrid>
                <a:gridCol w="685800"/>
                <a:gridCol w="4480560"/>
                <a:gridCol w="169164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 / Archivo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Redactar publicaciones: título, contenido HTML, tipo (empleados/inversiones/noticias/otros) e imagen. Enviar a revisión del ministerio para aprobación.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empresa/publicaciones.php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Gestionar galería de fotos de la empresa: subir, ver y eliminar imágenes (JPG/PNG/WEBP, máx 10 MB). Fotos aparecen en ficha pública.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empresa/galeria_api.php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1792224"/>
            <a:ext cx="8595360" cy="24688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792224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Épica 4: Comunicaciones con el Ministerio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57400"/>
          <a:ext cx="8595360" cy="1417320"/>
        </p:xfrm>
        <a:graphic>
          <a:graphicData uri="http://schemas.openxmlformats.org/drawingml/2006/table">
            <a:tbl>
              <a:tblPr/>
              <a:tblGrid>
                <a:gridCol w="685800"/>
                <a:gridCol w="4480560"/>
                <a:gridCol w="1691640"/>
                <a:gridCol w="82296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 / Archivo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Iniciar conversaciones con el ministerio, enviar mensajes de texto y adjuntar archivos para gestionar consultas o trámites.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empresa/comunicaciones.php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Ver bandeja de entrada y enviados. Responder mensajes del ministerio dentro del mismo hilo de conversación y marcarlos como leídos.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empresa/comunicaciones.php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Recibir notificaciones del sistema (formulario aprobado, publicación rechazada, etc.) con badge de no leídos y marcarlas como leídas.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empresa/notificaciones.php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Leer comunicados globales enviados por el ministerio a todas las empresas del parque para estar informado de novedades generales.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empresa/comunicaciones.php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</a:rPr>
                        <a:t>Baja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365760"/>
            <a:ext cx="1051560" cy="105156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4114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Ministerio / Administrador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54480" y="11430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Autenticado · Acceso total al sistema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627632"/>
            <a:ext cx="8686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Épicas incluidas: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Épica 1: Panel de Control (US-28)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Épica 2: Gestión de Empresas (US-29 a US-33)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Épica 3: Formularios y Declaraciones Juradas (US-34 a US-36)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Épica 4: Moderación de Publicaciones (US-37)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Épica 5: Gestión de Lotes y Mapa (US-38)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Épicas 6-10: Comunicaciones · Configuración · Estadísticas · Solicitudes · Cron (US-39 a US-50)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Ministerio · Épicas 1 y 2: Panel de Control + Gestión de Empresas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8595360" cy="246888"/>
          </a:xfrm>
          <a:prstGeom prst="rect">
            <a:avLst/>
          </a:prstGeom>
          <a:solidFill>
            <a:srgbClr val="FDF4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4008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Épica 1: Panel de Control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05256"/>
          <a:ext cx="8595360" cy="438912"/>
        </p:xfrm>
        <a:graphic>
          <a:graphicData uri="http://schemas.openxmlformats.org/drawingml/2006/table">
            <a:tbl>
              <a:tblPr/>
              <a:tblGrid>
                <a:gridCol w="685800"/>
                <a:gridCol w="4480560"/>
                <a:gridCol w="1691640"/>
                <a:gridCol w="82296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 / Archivo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Dashboard con KPIs: total empresas activas, pendientes de verificación, formularios en revisión, publicaciones pendientes, total empleados, visitas del mes y mensajes no leídos.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ministerio/dashboard.php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1408176"/>
            <a:ext cx="8595360" cy="246888"/>
          </a:xfrm>
          <a:prstGeom prst="rect">
            <a:avLst/>
          </a:prstGeom>
          <a:solidFill>
            <a:srgbClr val="FDF4FF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408176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Épica 2: Gestión de Empresas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73352"/>
          <a:ext cx="8595360" cy="1755648"/>
        </p:xfrm>
        <a:graphic>
          <a:graphicData uri="http://schemas.openxmlformats.org/drawingml/2006/table">
            <a:tbl>
              <a:tblPr/>
              <a:tblGrid>
                <a:gridCol w="685800"/>
                <a:gridCol w="4480560"/>
                <a:gridCol w="1691640"/>
                <a:gridCol w="8229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 / Archivo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Registrar nueva empresa eligiendo activación por email (token 48h) o contraseña temporal. Opción de enviar credenciales automáticamente y solicitar formulario inicial.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ministerio/nueva-empresa.php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Listar y buscar todas las empresas con filtros combinados: nombre/CUIT/contacto, rubro y estado. Paginado 12 por página.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ministerio/empresas.php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Cambiar el estado de una empresa: Activar / Suspender / Inactivar. Controla visibilidad en el directorio público.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ministerio/empresas.php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US-32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Ver detalle completo de empresa: perfil, usuario asociado, historial de estados, formularios enviados y métricas de tendencia.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empresa-detalle.php + metricas.php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Editar cualquier campo de la empresa y enviar token de recuperación de contraseña al email del usuario asociado.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ministerio/empresa-editar.php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Ministerio · Épica 3: Formularios y Declaraciones Juradas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4114800"/>
        </p:xfrm>
        <a:graphic>
          <a:graphicData uri="http://schemas.openxmlformats.org/drawingml/2006/table">
            <a:tbl>
              <a:tblPr/>
              <a:tblGrid>
                <a:gridCol w="685800"/>
                <a:gridCol w="5029200"/>
                <a:gridCol w="1783080"/>
                <a:gridCol w="914400"/>
              </a:tblGrid>
              <a:tr h="1028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 / Archivo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US-34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Revisar formularios trimestrales enviados por las empresas. Filtrar por empresa, período y estado. Agregar comentarios y aprobar o rechazar con motivo.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ministerio/formularios.php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Crear formulario dinámico personalizado: título, descripción, preguntas propias (texto, número, selección, checkbox, textarea). Reordenables con drag-drop y opción de obligatoriedad.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formulario-nuevo.php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formulario-editar.php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US-36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Gestionar formulario dinámico: publicar/archivar, hacer preview, ver respuestas de empresas, aprobar o rechazar respuestas, exportar a CSV y generar versión imprimible.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formularios-dinamicos.php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formulario-gestion.php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Ministerio · Épicas 4 y 5: Publicaciones y Gestión de Lotes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8595360" cy="246888"/>
          </a:xfrm>
          <a:prstGeom prst="rect">
            <a:avLst/>
          </a:prstGeom>
          <a:solidFill>
            <a:srgbClr val="FDF4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4008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Épica 4: Moderación de Publicaciones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05256"/>
          <a:ext cx="8595360" cy="438912"/>
        </p:xfrm>
        <a:graphic>
          <a:graphicData uri="http://schemas.openxmlformats.org/drawingml/2006/table">
            <a:tbl>
              <a:tblPr/>
              <a:tblGrid>
                <a:gridCol w="685800"/>
                <a:gridCol w="4480560"/>
                <a:gridCol w="1691640"/>
                <a:gridCol w="82296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 / Archivo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US-37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Revisar publicaciones pendientes de empresas. Aprobarlas (aparecen en el sitio público) o rechazarlas indicando el motivo. Filtrar por empresa, tipo y estado.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ministerio/publicaciones.php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1408176"/>
            <a:ext cx="8595360" cy="246888"/>
          </a:xfrm>
          <a:prstGeom prst="rect">
            <a:avLst/>
          </a:prstGeom>
          <a:solidFill>
            <a:srgbClr val="FDF4FF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408176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Épica 5: Gestión de Lotes y Parcelas del Parque</a:t>
            </a:r>
            <a:endParaRPr lang="en-US" sz="11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73352"/>
          <a:ext cx="8595360" cy="438912"/>
        </p:xfrm>
        <a:graphic>
          <a:graphicData uri="http://schemas.openxmlformats.org/drawingml/2006/table">
            <a:tbl>
              <a:tblPr/>
              <a:tblGrid>
                <a:gridCol w="685800"/>
                <a:gridCol w="4480560"/>
                <a:gridCol w="1691640"/>
                <a:gridCol w="82296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 / Archivo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US-38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Crear, editar y asignar lotes/parcelas: número de lote, sector, superficie en m², empresa asignada, geometría GeoJSON y estado (Disponible / Ocupado / Reservado).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ministerio/lotes.php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API: /api/lotes/guardar.php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Ministerio · Épica 6: Comunicaciones y Notificaciones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4114800"/>
        </p:xfrm>
        <a:graphic>
          <a:graphicData uri="http://schemas.openxmlformats.org/drawingml/2006/table">
            <a:tbl>
              <a:tblPr/>
              <a:tblGrid>
                <a:gridCol w="685800"/>
                <a:gridCol w="5029200"/>
                <a:gridCol w="1783080"/>
                <a:gridCol w="91440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 / Archivo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US-39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Iniciar y gestionar conversaciones individuales con empresas específicas desde el centro de comunicaciones. Responder mensajes y adjuntar archivos.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ministerio/comunicaciones.php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Enviar comunicado broadcast a todas las empresas del parque simultáneamente para notificar novedades importantes de forma masiva.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ministerio/comunicaciones.php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US-41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Crear y enviar notificaciones del sistema (formulario pendiente, publicación aprobada, recordatorio, etc.) a empresa específica o a todas.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ministerio/notificaciones.php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US-42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Crear y editar plantillas de email reutilizables para activación de empresa, comunicados y recordatorios; con vista previa antes de usar.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ministerio/plantillas.php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</a:rPr>
                        <a:t>Baja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Ministerio · Épicas 7 y 8: Configuración del Sitio y Estadísticas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8595360" cy="246888"/>
          </a:xfrm>
          <a:prstGeom prst="rect">
            <a:avLst/>
          </a:prstGeom>
          <a:solidFill>
            <a:srgbClr val="FDF4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4008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Épica 7: Configuración del Sitio Público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05256"/>
          <a:ext cx="8595360" cy="822960"/>
        </p:xfrm>
        <a:graphic>
          <a:graphicData uri="http://schemas.openxmlformats.org/drawingml/2006/table">
            <a:tbl>
              <a:tblPr/>
              <a:tblGrid>
                <a:gridCol w="685800"/>
                <a:gridCol w="4480560"/>
                <a:gridCol w="169164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 / Archivo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US-43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Editar textos de la homepage (dato de impacto, sectores, mapa) y contenido completo de la página Nosotros sin necesidad de tocar código.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sitio-publico.php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nosotros-editar.php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US-44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Crear, editar, reordenar y activar/desactivar banners del carousel de la homepage con imagen, título, descripción y URL de enlace.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ministerio/banners.php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1792224"/>
            <a:ext cx="8595360" cy="246888"/>
          </a:xfrm>
          <a:prstGeom prst="rect">
            <a:avLst/>
          </a:prstGeom>
          <a:solidFill>
            <a:srgbClr val="FDF4FF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792224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Épica 8: Estadísticas, Reportes y Exportación de Datos</a:t>
            </a:r>
            <a:endParaRPr lang="en-US" sz="11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57400"/>
          <a:ext cx="8595360" cy="1115568"/>
        </p:xfrm>
        <a:graphic>
          <a:graphicData uri="http://schemas.openxmlformats.org/drawingml/2006/table">
            <a:tbl>
              <a:tblPr/>
              <a:tblGrid>
                <a:gridCol w="685800"/>
                <a:gridCol w="4480560"/>
                <a:gridCol w="1691640"/>
                <a:gridCol w="822960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 / Archivo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Configurar los datos que se muestran en la página de estadísticas pública: huella de carbono total y textos de cada sección.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estadisticas-config.php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</a:rPr>
                        <a:t>Baja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US-46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Ver gráficos analíticos de empresas, empleados y visitas. Generar reportes PDF/Excel filtrando por período, empresa y rubro.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graficos.php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reporte.php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US-47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Exportar datos del sistema en CSV/Excel: listado de empresas, formularios trimestrales y respuestas de formularios dinámicos.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ministerio/exportar.php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Ministerio · Épicas 9 y 10: Solicitudes de Radicación y Automatización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8595360" cy="246888"/>
          </a:xfrm>
          <a:prstGeom prst="rect">
            <a:avLst/>
          </a:prstGeom>
          <a:solidFill>
            <a:srgbClr val="FDF4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4008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Épica 9: Solicitudes de Radicación (desde sitio público)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05256"/>
          <a:ext cx="8595360" cy="475488"/>
        </p:xfrm>
        <a:graphic>
          <a:graphicData uri="http://schemas.openxmlformats.org/drawingml/2006/table">
            <a:tbl>
              <a:tblPr/>
              <a:tblGrid>
                <a:gridCol w="685800"/>
                <a:gridCol w="4480560"/>
                <a:gridCol w="1691640"/>
                <a:gridCol w="82296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 / Archivo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US-48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Ver solicitudes enviadas desde el formulario público. Cambiar estado (Pendiente/Revisado/Aprobado/Rechazado), agregar comentarios, responder al interesado y crear empresa directamente desde la solicitud aprobada.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solicitudes-proyecto.php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1444752"/>
            <a:ext cx="8595360" cy="246888"/>
          </a:xfrm>
          <a:prstGeom prst="rect">
            <a:avLst/>
          </a:prstGeom>
          <a:solidFill>
            <a:srgbClr val="FDF4FF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444752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Épica 10: Automatización con Tareas Programadas (Cron)</a:t>
            </a:r>
            <a:endParaRPr lang="en-US" sz="11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09928"/>
          <a:ext cx="8595360" cy="841248"/>
        </p:xfrm>
        <a:graphic>
          <a:graphicData uri="http://schemas.openxmlformats.org/drawingml/2006/table">
            <a:tbl>
              <a:tblPr/>
              <a:tblGrid>
                <a:gridCol w="685800"/>
                <a:gridCol w="4480560"/>
                <a:gridCol w="1691640"/>
                <a:gridCol w="822960"/>
              </a:tblGrid>
              <a:tr h="2804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 / Archivo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US-49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El sistema ejecuta automáticamente la limpieza de intentos de login fallidos y tokens expirados (activación y recuperación) para mantener la base de datos saneada.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cron/limpiar-login-attempts.php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cron/limpiar-tokens.php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</a:rPr>
                        <a:t>Baja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US-50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El sistema envía recordatorios automáticos a las empresas antes del cierre del período trimestral para que no se olviden de enviar su declaración jurada.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75569"/>
                          </a:solidFill>
                        </a:rPr>
                        <a:t>cron/recordatorios-formularios.php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Final — 50 Historias de Usuario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137160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9202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</a:rPr>
              <a:t>22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Prioridad Alta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42032" y="1005840"/>
            <a:ext cx="1920240" cy="1371600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9" name="Shape 7"/>
          <p:cNvSpPr/>
          <p:nvPr/>
        </p:nvSpPr>
        <p:spPr>
          <a:xfrm>
            <a:off x="2542032" y="1005840"/>
            <a:ext cx="1920240" cy="640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2542032" y="10515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BBF24"/>
                </a:solidFill>
              </a:rPr>
              <a:t>20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587752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Prioridad Media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005840"/>
            <a:ext cx="1920240" cy="13716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3" name="Shape 11"/>
          <p:cNvSpPr/>
          <p:nvPr/>
        </p:nvSpPr>
        <p:spPr>
          <a:xfrm>
            <a:off x="4626864" y="1005840"/>
            <a:ext cx="1920240" cy="6400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4626864" y="10515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DE80"/>
                </a:solidFill>
              </a:rPr>
              <a:t>8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672584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Prioridad Baja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11696" y="1005840"/>
            <a:ext cx="1920240" cy="1371600"/>
          </a:xfrm>
          <a:prstGeom prst="rect">
            <a:avLst/>
          </a:prstGeom>
          <a:solidFill>
            <a:srgbClr val="3B0764"/>
          </a:solidFill>
          <a:ln/>
        </p:spPr>
      </p:sp>
      <p:sp>
        <p:nvSpPr>
          <p:cNvPr id="17" name="Shape 15"/>
          <p:cNvSpPr/>
          <p:nvPr/>
        </p:nvSpPr>
        <p:spPr>
          <a:xfrm>
            <a:off x="6711696" y="1005840"/>
            <a:ext cx="1920240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6711696" y="10515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855F7"/>
                </a:solidFill>
              </a:rPr>
              <a:t>50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757416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TOTAL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60320"/>
          <a:ext cx="8412480" cy="173736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645920"/>
                <a:gridCol w="2011680"/>
                <a:gridCol w="1645920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Rango IDs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Páginas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Acceso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Visitante / Ciudadano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93C5FD"/>
                          </a:solidFill>
                        </a:rPr>
                        <a:t>14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3C5FD"/>
                          </a:solidFill>
                        </a:rPr>
                        <a:t>US-01 a US-14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FDBFE"/>
                          </a:solidFill>
                        </a:rPr>
                        <a:t>16 páginas públicas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3C5FD"/>
                          </a:solidFill>
                        </a:rPr>
                        <a:t>Sin login requerido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Empresa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6EFAC"/>
                          </a:solidFill>
                        </a:rPr>
                        <a:t>13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6EFAC"/>
                          </a:solidFill>
                        </a:rPr>
                        <a:t>US-15 a US-27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BF7D0"/>
                          </a:solidFill>
                        </a:rPr>
                        <a:t>11 págs + 7 APIs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6EFAC"/>
                          </a:solidFill>
                        </a:rPr>
                        <a:t>Login empresa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Ministerio / Admin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7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8B4FE"/>
                          </a:solidFill>
                        </a:rPr>
                        <a:t>23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7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8B4FE"/>
                          </a:solidFill>
                        </a:rPr>
                        <a:t>US-28 a US-50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7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9D5FF"/>
                          </a:solidFill>
                        </a:rPr>
                        <a:t>31 págs + 12 APIs + 3 cron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7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8B4FE"/>
                          </a:solidFill>
                        </a:rPr>
                        <a:t>Login ministerio/admin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764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956048"/>
            <a:ext cx="8229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Parque Industrial de Catamarca  ·  Sistema Web PHP  ·  Junio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Historias de Usuario — Parque Industrial de Catamarca</dc:title>
  <dc:subject>PptxGenJS Presentation</dc:subject>
  <dc:creator>Parque Industrial de Catamarca</dc:creator>
  <cp:lastModifiedBy>Parque Industrial de Catamarca</cp:lastModifiedBy>
  <cp:revision>1</cp:revision>
  <dcterms:created xsi:type="dcterms:W3CDTF">2026-06-10T20:21:01Z</dcterms:created>
  <dcterms:modified xsi:type="dcterms:W3CDTF">2026-06-10T20:21:01Z</dcterms:modified>
</cp:coreProperties>
</file>